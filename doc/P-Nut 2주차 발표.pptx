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handoutMasterIdLst>
    <p:handoutMasterId r:id="rId13"/>
  </p:handoutMasterIdLst>
  <p:sldIdLst>
    <p:sldId id="298" r:id="rId2"/>
    <p:sldId id="302" r:id="rId3"/>
    <p:sldId id="303" r:id="rId4"/>
    <p:sldId id="304" r:id="rId5"/>
    <p:sldId id="306" r:id="rId6"/>
    <p:sldId id="312" r:id="rId7"/>
    <p:sldId id="313" r:id="rId8"/>
    <p:sldId id="314" r:id="rId9"/>
    <p:sldId id="316" r:id="rId10"/>
    <p:sldId id="305" r:id="rId11"/>
    <p:sldId id="308" r:id="rId12"/>
  </p:sldIdLst>
  <p:sldSz cx="12192000" cy="6858000"/>
  <p:notesSz cx="6858000" cy="9144000"/>
  <p:embeddedFontLst>
    <p:embeddedFont>
      <p:font typeface="나눔스퀘어라운드 Regular" charset="-127"/>
      <p:regular r:id="rId14"/>
    </p:embeddedFont>
    <p:embeddedFont>
      <p:font typeface="HY강B" pitchFamily="18" charset="-127"/>
      <p:regular r:id="rId15"/>
    </p:embeddedFont>
    <p:embeddedFont>
      <p:font typeface="맑은 고딕" pitchFamily="50" charset="-127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A97B"/>
    <a:srgbClr val="ECA35A"/>
    <a:srgbClr val="FEFEF4"/>
    <a:srgbClr val="F2F4F3"/>
    <a:srgbClr val="E4E8E7"/>
    <a:srgbClr val="DDC69D"/>
    <a:srgbClr val="FDFDDF"/>
    <a:srgbClr val="525252"/>
    <a:srgbClr val="FCFBFA"/>
    <a:srgbClr val="F8F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95" d="100"/>
          <a:sy n="95" d="100"/>
        </p:scale>
        <p:origin x="-378" y="72"/>
      </p:cViewPr>
      <p:guideLst>
        <p:guide orient="horz" pos="2160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1" d="100"/>
          <a:sy n="51" d="100"/>
        </p:scale>
        <p:origin x="2624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513BA-3E82-4812-9926-DD5B40EAAC2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날짜 개체 틀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C2647-C259-4EB5-84B8-93A3F8E54DE7}" type="datetimeFigureOut">
              <a:rPr lang="ko-KR" altLang="en-US" smtClean="0"/>
              <a:t>2021-02-26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866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823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00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23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26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76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93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래픽 4" descr="나뭇잎">
            <a:extLst>
              <a:ext uri="{FF2B5EF4-FFF2-40B4-BE49-F238E27FC236}">
                <a16:creationId xmlns:a16="http://schemas.microsoft.com/office/drawing/2014/main" xmlns="" id="{12D68E71-66F0-43BA-9140-D3FD060F62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1326380" y="136524"/>
            <a:ext cx="722457" cy="72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6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970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262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36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63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1C398-EBCC-4210-8AFD-1D056CED0821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9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3A25C8BC-95B7-4DB6-9377-E0C2F6995E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6" b="3631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076A805D-3663-436E-9094-3A3B19B64BA7}"/>
              </a:ext>
            </a:extLst>
          </p:cNvPr>
          <p:cNvSpPr/>
          <p:nvPr/>
        </p:nvSpPr>
        <p:spPr>
          <a:xfrm>
            <a:off x="3823854" y="0"/>
            <a:ext cx="8368145" cy="6858000"/>
          </a:xfrm>
          <a:prstGeom prst="rect">
            <a:avLst/>
          </a:prstGeom>
          <a:solidFill>
            <a:schemeClr val="accent4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4244999-B61A-4D76-A124-162D24C648D6}"/>
              </a:ext>
            </a:extLst>
          </p:cNvPr>
          <p:cNvSpPr txBox="1"/>
          <p:nvPr/>
        </p:nvSpPr>
        <p:spPr>
          <a:xfrm>
            <a:off x="4091709" y="4117389"/>
            <a:ext cx="19639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 smtClean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P-Nut</a:t>
            </a:r>
            <a:endParaRPr lang="ko-KR" altLang="en-US" sz="6000" b="1" dirty="0">
              <a:solidFill>
                <a:schemeClr val="bg1"/>
              </a:solidFill>
              <a:latin typeface="HY강B" pitchFamily="18" charset="-127"/>
              <a:ea typeface="HY강B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4AD19C72-A2A0-4596-9163-847FC3B86106}"/>
              </a:ext>
            </a:extLst>
          </p:cNvPr>
          <p:cNvCxnSpPr>
            <a:cxnSpLocks/>
          </p:cNvCxnSpPr>
          <p:nvPr/>
        </p:nvCxnSpPr>
        <p:spPr>
          <a:xfrm>
            <a:off x="4091709" y="3897748"/>
            <a:ext cx="5918836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C8C5772-6A37-418F-A3AD-D1FC6827C69F}"/>
              </a:ext>
            </a:extLst>
          </p:cNvPr>
          <p:cNvSpPr txBox="1"/>
          <p:nvPr/>
        </p:nvSpPr>
        <p:spPr>
          <a:xfrm>
            <a:off x="6532544" y="5146477"/>
            <a:ext cx="3371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>
                    <a:alpha val="60000"/>
                  </a:schemeClr>
                </a:solidFill>
                <a:latin typeface="HY강B" pitchFamily="18" charset="-127"/>
                <a:ea typeface="HY강B" pitchFamily="18" charset="-127"/>
              </a:rPr>
              <a:t>2</a:t>
            </a:r>
            <a:r>
              <a:rPr lang="ko-KR" altLang="en-US" sz="2800" b="1" dirty="0" smtClean="0">
                <a:solidFill>
                  <a:schemeClr val="bg1">
                    <a:alpha val="60000"/>
                  </a:schemeClr>
                </a:solidFill>
                <a:latin typeface="HY강B" pitchFamily="18" charset="-127"/>
                <a:ea typeface="HY강B" pitchFamily="18" charset="-127"/>
              </a:rPr>
              <a:t>조 손석현  탁강현</a:t>
            </a:r>
            <a:endParaRPr lang="ko-KR" altLang="en-US" sz="2800" b="1" dirty="0">
              <a:solidFill>
                <a:schemeClr val="bg1">
                  <a:alpha val="60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pic>
        <p:nvPicPr>
          <p:cNvPr id="7" name="그래픽 6" descr="나뭇잎">
            <a:extLst>
              <a:ext uri="{FF2B5EF4-FFF2-40B4-BE49-F238E27FC236}">
                <a16:creationId xmlns:a16="http://schemas.microsoft.com/office/drawing/2014/main" xmlns="" id="{6CF7FAAF-4860-4EC4-B955-2CBFD177B9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273637" y="277621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8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0815533F-2873-4AA3-BFCC-6D8E3DF7ED5F}"/>
              </a:ext>
            </a:extLst>
          </p:cNvPr>
          <p:cNvSpPr/>
          <p:nvPr/>
        </p:nvSpPr>
        <p:spPr>
          <a:xfrm>
            <a:off x="3823855" y="0"/>
            <a:ext cx="8368145" cy="6858000"/>
          </a:xfrm>
          <a:prstGeom prst="rect">
            <a:avLst/>
          </a:prstGeom>
          <a:solidFill>
            <a:schemeClr val="accent4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BE2A7FC0-EF40-4CE0-B597-5D965AE43EE5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2892069-F950-4415-B2B0-DA0EEC6B1BC0}"/>
              </a:ext>
            </a:extLst>
          </p:cNvPr>
          <p:cNvSpPr txBox="1"/>
          <p:nvPr/>
        </p:nvSpPr>
        <p:spPr>
          <a:xfrm flipH="1">
            <a:off x="4089041" y="2100020"/>
            <a:ext cx="348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메인화면</a:t>
            </a:r>
            <a:r>
              <a:rPr lang="ko-KR" altLang="en-US" sz="2800" dirty="0" smtClean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 메뉴안내</a:t>
            </a:r>
            <a:endParaRPr lang="ko-KR" altLang="en-US" sz="2800" dirty="0">
              <a:solidFill>
                <a:schemeClr val="bg1"/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5D7D538-70B4-43F2-944A-6633B39142F4}"/>
              </a:ext>
            </a:extLst>
          </p:cNvPr>
          <p:cNvSpPr txBox="1"/>
          <p:nvPr/>
        </p:nvSpPr>
        <p:spPr>
          <a:xfrm flipH="1">
            <a:off x="4089037" y="4218647"/>
            <a:ext cx="348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테이블 명세서</a:t>
            </a:r>
            <a:endParaRPr lang="ko-KR" altLang="en-US" sz="2800" dirty="0">
              <a:solidFill>
                <a:schemeClr val="bg1"/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AA9426E-B08C-48DB-8297-C7E312BE952F}"/>
              </a:ext>
            </a:extLst>
          </p:cNvPr>
          <p:cNvSpPr txBox="1"/>
          <p:nvPr/>
        </p:nvSpPr>
        <p:spPr>
          <a:xfrm>
            <a:off x="3153443" y="1344319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endParaRPr lang="ko-KR" alt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75923EE1-4BA6-40F9-AFBD-09A8B779C05D}"/>
              </a:ext>
            </a:extLst>
          </p:cNvPr>
          <p:cNvSpPr txBox="1"/>
          <p:nvPr/>
        </p:nvSpPr>
        <p:spPr>
          <a:xfrm>
            <a:off x="378460" y="258740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목차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AA9426E-B08C-48DB-8297-C7E312BE952F}"/>
              </a:ext>
            </a:extLst>
          </p:cNvPr>
          <p:cNvSpPr txBox="1"/>
          <p:nvPr/>
        </p:nvSpPr>
        <p:spPr>
          <a:xfrm>
            <a:off x="3167507" y="2022798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endParaRPr lang="ko-KR" alt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AA9426E-B08C-48DB-8297-C7E312BE952F}"/>
              </a:ext>
            </a:extLst>
          </p:cNvPr>
          <p:cNvSpPr txBox="1"/>
          <p:nvPr/>
        </p:nvSpPr>
        <p:spPr>
          <a:xfrm>
            <a:off x="3160475" y="2711065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lang="ko-KR" alt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AA9426E-B08C-48DB-8297-C7E312BE952F}"/>
              </a:ext>
            </a:extLst>
          </p:cNvPr>
          <p:cNvSpPr txBox="1"/>
          <p:nvPr/>
        </p:nvSpPr>
        <p:spPr>
          <a:xfrm>
            <a:off x="3160475" y="3413665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accent4">
                    <a:lumMod val="75000"/>
                  </a:schemeClr>
                </a:solidFill>
              </a:rPr>
              <a:t>4</a:t>
            </a:r>
            <a:endParaRPr lang="ko-KR" alt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AA9426E-B08C-48DB-8297-C7E312BE952F}"/>
              </a:ext>
            </a:extLst>
          </p:cNvPr>
          <p:cNvSpPr txBox="1"/>
          <p:nvPr/>
        </p:nvSpPr>
        <p:spPr>
          <a:xfrm>
            <a:off x="3160475" y="4126314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accent4">
                    <a:lumMod val="75000"/>
                  </a:schemeClr>
                </a:solidFill>
              </a:rPr>
              <a:t>5</a:t>
            </a:r>
            <a:endParaRPr lang="ko-KR" alt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AA9426E-B08C-48DB-8297-C7E312BE952F}"/>
              </a:ext>
            </a:extLst>
          </p:cNvPr>
          <p:cNvSpPr txBox="1"/>
          <p:nvPr/>
        </p:nvSpPr>
        <p:spPr>
          <a:xfrm>
            <a:off x="3160475" y="4828914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accent4">
                    <a:lumMod val="75000"/>
                  </a:schemeClr>
                </a:solidFill>
              </a:rPr>
              <a:t>6</a:t>
            </a:r>
            <a:endParaRPr lang="ko-KR" alt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2892069-F950-4415-B2B0-DA0EEC6B1BC0}"/>
              </a:ext>
            </a:extLst>
          </p:cNvPr>
          <p:cNvSpPr txBox="1"/>
          <p:nvPr/>
        </p:nvSpPr>
        <p:spPr>
          <a:xfrm flipH="1">
            <a:off x="4089041" y="2803398"/>
            <a:ext cx="348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업무흐름</a:t>
            </a:r>
            <a:r>
              <a:rPr lang="ko-KR" altLang="en-US" sz="2800" dirty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2892069-F950-4415-B2B0-DA0EEC6B1BC0}"/>
              </a:ext>
            </a:extLst>
          </p:cNvPr>
          <p:cNvSpPr txBox="1"/>
          <p:nvPr/>
        </p:nvSpPr>
        <p:spPr>
          <a:xfrm flipH="1">
            <a:off x="4089040" y="3505998"/>
            <a:ext cx="348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ERD</a:t>
            </a:r>
            <a:endParaRPr lang="ko-KR" altLang="en-US" sz="2800" dirty="0">
              <a:solidFill>
                <a:schemeClr val="bg1"/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B2892069-F950-4415-B2B0-DA0EEC6B1BC0}"/>
              </a:ext>
            </a:extLst>
          </p:cNvPr>
          <p:cNvSpPr txBox="1"/>
          <p:nvPr/>
        </p:nvSpPr>
        <p:spPr>
          <a:xfrm flipH="1">
            <a:off x="4089041" y="4921247"/>
            <a:ext cx="348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진행상황</a:t>
            </a:r>
            <a:endParaRPr lang="ko-KR" altLang="en-US" sz="2800" dirty="0">
              <a:solidFill>
                <a:schemeClr val="bg1"/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B2892069-F950-4415-B2B0-DA0EEC6B1BC0}"/>
              </a:ext>
            </a:extLst>
          </p:cNvPr>
          <p:cNvSpPr txBox="1"/>
          <p:nvPr/>
        </p:nvSpPr>
        <p:spPr>
          <a:xfrm flipH="1">
            <a:off x="4089041" y="1436652"/>
            <a:ext cx="348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HY강B" pitchFamily="18" charset="-127"/>
                <a:ea typeface="HY강B" pitchFamily="18" charset="-127"/>
              </a:rPr>
              <a:t>프로젝트 소개</a:t>
            </a:r>
            <a:endParaRPr lang="ko-KR" altLang="en-US" sz="2800" dirty="0">
              <a:solidFill>
                <a:schemeClr val="bg1"/>
              </a:solidFill>
              <a:latin typeface="HY강B" pitchFamily="18" charset="-127"/>
              <a:ea typeface="HY강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52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7AD5746-83D0-48A2-BE6D-633B79FCB166}"/>
              </a:ext>
            </a:extLst>
          </p:cNvPr>
          <p:cNvSpPr/>
          <p:nvPr/>
        </p:nvSpPr>
        <p:spPr>
          <a:xfrm>
            <a:off x="249382" y="1385455"/>
            <a:ext cx="5846618" cy="4867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1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8408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P-Nut</a:t>
            </a:r>
            <a:r>
              <a:rPr lang="ko-KR" altLang="en-US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이란</a:t>
            </a:r>
            <a:r>
              <a:rPr lang="en-US" altLang="ko-KR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?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7E9E24F-C169-4FB1-9948-5CF818050665}"/>
              </a:ext>
            </a:extLst>
          </p:cNvPr>
          <p:cNvSpPr txBox="1"/>
          <p:nvPr/>
        </p:nvSpPr>
        <p:spPr>
          <a:xfrm>
            <a:off x="6317005" y="1365296"/>
            <a:ext cx="46486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HY강B" pitchFamily="18" charset="-127"/>
                <a:ea typeface="HY강B" pitchFamily="18" charset="-127"/>
              </a:rPr>
              <a:t>모두가 볼 수 있는 게시판에 붙어있는 </a:t>
            </a:r>
            <a:r>
              <a:rPr lang="ko-KR" altLang="en-US" sz="3200" dirty="0" err="1">
                <a:latin typeface="HY강B" pitchFamily="18" charset="-127"/>
                <a:ea typeface="HY강B" pitchFamily="18" charset="-127"/>
              </a:rPr>
              <a:t>포스트잇에서</a:t>
            </a:r>
            <a:r>
              <a:rPr lang="ko-KR" altLang="en-US" sz="3200" dirty="0">
                <a:latin typeface="HY강B" pitchFamily="18" charset="-127"/>
                <a:ea typeface="HY강B" pitchFamily="18" charset="-127"/>
              </a:rPr>
              <a:t> 창안해 만든 간단한 </a:t>
            </a:r>
            <a:r>
              <a:rPr lang="en-US" altLang="ko-KR" sz="3200" dirty="0" err="1">
                <a:latin typeface="HY강B" pitchFamily="18" charset="-127"/>
                <a:ea typeface="HY강B" pitchFamily="18" charset="-127"/>
              </a:rPr>
              <a:t>SnS</a:t>
            </a:r>
            <a:r>
              <a:rPr lang="ko-KR" altLang="en-US" sz="3200" dirty="0">
                <a:latin typeface="HY강B" pitchFamily="18" charset="-127"/>
                <a:ea typeface="HY강B" pitchFamily="18" charset="-127"/>
              </a:rPr>
              <a:t>서비스입니다</a:t>
            </a:r>
            <a:r>
              <a:rPr lang="en-US" altLang="ko-KR" sz="3200" dirty="0">
                <a:latin typeface="HY강B" pitchFamily="18" charset="-127"/>
                <a:ea typeface="HY강B" pitchFamily="18" charset="-127"/>
              </a:rPr>
              <a:t>. </a:t>
            </a:r>
            <a:r>
              <a:rPr lang="ko-KR" altLang="en-US" sz="3200" dirty="0">
                <a:latin typeface="HY강B" pitchFamily="18" charset="-127"/>
                <a:ea typeface="HY강B" pitchFamily="18" charset="-127"/>
              </a:rPr>
              <a:t>이름은 </a:t>
            </a:r>
            <a:r>
              <a:rPr lang="en-US" altLang="ko-KR" sz="3200" dirty="0">
                <a:latin typeface="HY강B" pitchFamily="18" charset="-127"/>
                <a:ea typeface="HY강B" pitchFamily="18" charset="-127"/>
              </a:rPr>
              <a:t>Public </a:t>
            </a:r>
            <a:r>
              <a:rPr lang="en-US" altLang="ko-KR" sz="3200" dirty="0" smtClean="0">
                <a:latin typeface="HY강B" pitchFamily="18" charset="-127"/>
                <a:ea typeface="HY강B" pitchFamily="18" charset="-127"/>
              </a:rPr>
              <a:t>Note</a:t>
            </a:r>
            <a:r>
              <a:rPr lang="ko-KR" altLang="en-US" sz="3200" dirty="0" smtClean="0">
                <a:latin typeface="HY강B" pitchFamily="18" charset="-127"/>
                <a:ea typeface="HY강B" pitchFamily="18" charset="-127"/>
              </a:rPr>
              <a:t>의 </a:t>
            </a:r>
            <a:r>
              <a:rPr lang="ko-KR" altLang="en-US" sz="3200" dirty="0" err="1" smtClean="0">
                <a:latin typeface="HY강B" pitchFamily="18" charset="-127"/>
                <a:ea typeface="HY강B" pitchFamily="18" charset="-127"/>
              </a:rPr>
              <a:t>줄임말</a:t>
            </a:r>
            <a:r>
              <a:rPr lang="ko-KR" altLang="en-US" sz="3200" dirty="0" smtClean="0">
                <a:latin typeface="HY강B" pitchFamily="18" charset="-127"/>
                <a:ea typeface="HY강B" pitchFamily="18" charset="-127"/>
              </a:rPr>
              <a:t> </a:t>
            </a:r>
            <a:r>
              <a:rPr lang="en-US" altLang="ko-KR" sz="3200" dirty="0" smtClean="0">
                <a:latin typeface="HY강B" pitchFamily="18" charset="-127"/>
                <a:ea typeface="HY강B" pitchFamily="18" charset="-127"/>
              </a:rPr>
              <a:t>P-Note</a:t>
            </a:r>
            <a:r>
              <a:rPr lang="ko-KR" altLang="en-US" sz="3200" dirty="0" smtClean="0">
                <a:latin typeface="HY강B" pitchFamily="18" charset="-127"/>
                <a:ea typeface="HY강B" pitchFamily="18" charset="-127"/>
              </a:rPr>
              <a:t>에서 </a:t>
            </a:r>
            <a:r>
              <a:rPr lang="ko-KR" altLang="en-US" sz="3200" dirty="0">
                <a:latin typeface="HY강B" pitchFamily="18" charset="-127"/>
                <a:ea typeface="HY강B" pitchFamily="18" charset="-127"/>
              </a:rPr>
              <a:t>비슷한 발음인 </a:t>
            </a:r>
            <a:r>
              <a:rPr lang="en-US" altLang="ko-KR" sz="3200" dirty="0">
                <a:latin typeface="HY강B" pitchFamily="18" charset="-127"/>
                <a:ea typeface="HY강B" pitchFamily="18" charset="-127"/>
              </a:rPr>
              <a:t>Peanut</a:t>
            </a:r>
            <a:r>
              <a:rPr lang="ko-KR" altLang="en-US" sz="3200" dirty="0">
                <a:latin typeface="HY강B" pitchFamily="18" charset="-127"/>
                <a:ea typeface="HY강B" pitchFamily="18" charset="-127"/>
              </a:rPr>
              <a:t>을 따와 만들었습니다</a:t>
            </a:r>
            <a:r>
              <a:rPr lang="en-US" altLang="ko-KR" sz="3200" dirty="0">
                <a:latin typeface="HY강B" pitchFamily="18" charset="-127"/>
                <a:ea typeface="HY강B" pitchFamily="18" charset="-127"/>
              </a:rPr>
              <a:t>.</a:t>
            </a:r>
            <a:r>
              <a:rPr lang="ko-KR" altLang="en-US" sz="3200" dirty="0">
                <a:latin typeface="HY강B" pitchFamily="18" charset="-127"/>
                <a:ea typeface="HY강B" pitchFamily="18" charset="-127"/>
              </a:rPr>
              <a:t> 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xmlns="" id="{FE488BCD-E95D-4FF4-B494-40B8862F204B}"/>
              </a:ext>
            </a:extLst>
          </p:cNvPr>
          <p:cNvCxnSpPr>
            <a:cxnSpLocks/>
          </p:cNvCxnSpPr>
          <p:nvPr/>
        </p:nvCxnSpPr>
        <p:spPr>
          <a:xfrm>
            <a:off x="6372431" y="1349406"/>
            <a:ext cx="1446028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85" y="2050808"/>
            <a:ext cx="5264611" cy="3514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805" y="3627454"/>
            <a:ext cx="700061" cy="7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147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7AD5746-83D0-48A2-BE6D-633B79FCB166}"/>
              </a:ext>
            </a:extLst>
          </p:cNvPr>
          <p:cNvSpPr/>
          <p:nvPr/>
        </p:nvSpPr>
        <p:spPr>
          <a:xfrm>
            <a:off x="378461" y="1214633"/>
            <a:ext cx="11615056" cy="5213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2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396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err="1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메인화면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603980"/>
              </p:ext>
            </p:extLst>
          </p:nvPr>
        </p:nvGraphicFramePr>
        <p:xfrm>
          <a:off x="1921468" y="1405745"/>
          <a:ext cx="8128000" cy="482423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75842"/>
                <a:gridCol w="6452158"/>
              </a:tblGrid>
              <a:tr h="482423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1426865"/>
            <a:ext cx="700061" cy="7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164" y="2247813"/>
            <a:ext cx="4953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29" y="2850612"/>
            <a:ext cx="490563" cy="38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885" y="3310500"/>
            <a:ext cx="5524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21" y="3915316"/>
            <a:ext cx="4857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579" y="4459496"/>
            <a:ext cx="445841" cy="42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58" y="4976725"/>
            <a:ext cx="4953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585" y="5565280"/>
            <a:ext cx="528750" cy="46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523335" y="2281898"/>
            <a:ext cx="148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홈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23335" y="2837944"/>
            <a:ext cx="148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검색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23335" y="3383009"/>
            <a:ext cx="148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알림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23335" y="3934391"/>
            <a:ext cx="148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메시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335" y="4490437"/>
            <a:ext cx="148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북마</a:t>
            </a:r>
            <a:r>
              <a:rPr lang="ko-KR" altLang="en-US" dirty="0" err="1">
                <a:latin typeface="HY강B" pitchFamily="18" charset="-127"/>
                <a:ea typeface="HY강B" pitchFamily="18" charset="-127"/>
              </a:rPr>
              <a:t>크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23335" y="5035502"/>
            <a:ext cx="148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335" y="5611417"/>
            <a:ext cx="148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강B" pitchFamily="18" charset="-127"/>
                <a:ea typeface="HY강B" pitchFamily="18" charset="-127"/>
              </a:rPr>
              <a:t>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쓰기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3737984" y="3379889"/>
            <a:ext cx="163788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댓글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 달린 글</a:t>
            </a:r>
            <a:endParaRPr lang="ko-KR" altLang="en-US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3737984" y="3934391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HY강B" pitchFamily="18" charset="-127"/>
                <a:ea typeface="HY강B" pitchFamily="18" charset="-127"/>
              </a:rPr>
              <a:t>1 : 1 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쪽지 기능</a:t>
            </a:r>
            <a:endParaRPr lang="ko-KR" altLang="en-US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3773152" y="4512121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즐겨찾기</a:t>
            </a:r>
            <a:endParaRPr lang="ko-KR" altLang="en-US" dirty="0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3773152" y="5039709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회원정보수정</a:t>
            </a:r>
            <a:endParaRPr lang="ko-KR" altLang="en-US" dirty="0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5764402" y="5035502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로그아웃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733876" y="5019613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탈퇴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020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4A2CAC20-4202-41E0-9D3B-D51137F9172C}"/>
              </a:ext>
            </a:extLst>
          </p:cNvPr>
          <p:cNvSpPr/>
          <p:nvPr/>
        </p:nvSpPr>
        <p:spPr>
          <a:xfrm>
            <a:off x="378460" y="1246053"/>
            <a:ext cx="11518167" cy="5408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9498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업무흐름도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2523335" y="5121823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HY강B" pitchFamily="18" charset="-127"/>
                <a:ea typeface="HY강B" pitchFamily="18" charset="-127"/>
              </a:rPr>
              <a:t>1 : 1 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쪽지 기능</a:t>
            </a:r>
            <a:endParaRPr lang="ko-KR" altLang="en-US" dirty="0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2523335" y="5700110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즐겨찾기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8827470" y="3750220"/>
            <a:ext cx="1438595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프로필</a:t>
            </a:r>
            <a:endParaRPr lang="ko-KR" altLang="en-US" dirty="0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2523335" y="1424732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타임라인</a:t>
            </a:r>
            <a:endParaRPr lang="ko-KR" altLang="en-US" dirty="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586444" y="1424732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홈</a:t>
            </a:r>
          </a:p>
        </p:txBody>
      </p:sp>
      <p:sp>
        <p:nvSpPr>
          <p:cNvPr id="38" name="모서리가 둥근 직사각형 37"/>
          <p:cNvSpPr/>
          <p:nvPr/>
        </p:nvSpPr>
        <p:spPr>
          <a:xfrm>
            <a:off x="586444" y="3143113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검색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86444" y="4596372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알림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86444" y="5121823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메시지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586444" y="5700110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북마크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6898188" y="3754784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로그인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586444" y="6201783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글쓰기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6898188" y="5688386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관리자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6914933" y="5175760"/>
            <a:ext cx="1818754" cy="3693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강B" pitchFamily="18" charset="-127"/>
                <a:ea typeface="HY강B" pitchFamily="18" charset="-127"/>
              </a:rPr>
              <a:t>회원가입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4445666" y="1424732"/>
            <a:ext cx="2075713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팔로우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 추가</a:t>
            </a:r>
            <a:r>
              <a:rPr lang="en-US" altLang="ko-KR" dirty="0" smtClean="0">
                <a:latin typeface="HY강B" pitchFamily="18" charset="-127"/>
                <a:ea typeface="HY강B" pitchFamily="18" charset="-127"/>
              </a:rPr>
              <a:t>/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해제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466096" y="1912107"/>
            <a:ext cx="2075713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차단 추가</a:t>
            </a:r>
            <a:r>
              <a:rPr lang="en-US" altLang="ko-KR" dirty="0" smtClean="0">
                <a:latin typeface="HY강B" pitchFamily="18" charset="-127"/>
                <a:ea typeface="HY강B" pitchFamily="18" charset="-127"/>
              </a:rPr>
              <a:t>/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해제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4466096" y="2433839"/>
            <a:ext cx="2075713" cy="61165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다른 유저 </a:t>
            </a:r>
            <a:endParaRPr lang="en-US" altLang="ko-KR" dirty="0" smtClean="0">
              <a:latin typeface="HY강B" pitchFamily="18" charset="-127"/>
              <a:ea typeface="HY강B" pitchFamily="18" charset="-127"/>
            </a:endParaRPr>
          </a:p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프로필 보기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2523335" y="3143113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게시글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4472793" y="3143113"/>
            <a:ext cx="2075713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해시태그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2523335" y="3664845"/>
            <a:ext cx="1818754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유저 검색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4486525" y="3664845"/>
            <a:ext cx="2075713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팔로</a:t>
            </a:r>
            <a:r>
              <a:rPr lang="ko-KR" altLang="en-US" dirty="0" err="1">
                <a:latin typeface="HY강B" pitchFamily="18" charset="-127"/>
                <a:ea typeface="HY강B" pitchFamily="18" charset="-127"/>
              </a:rPr>
              <a:t>우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4486525" y="4124116"/>
            <a:ext cx="2075713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차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단</a:t>
            </a:r>
          </a:p>
        </p:txBody>
      </p:sp>
      <p:sp>
        <p:nvSpPr>
          <p:cNvPr id="56" name="모서리가 둥근 직사각형 55"/>
          <p:cNvSpPr/>
          <p:nvPr/>
        </p:nvSpPr>
        <p:spPr>
          <a:xfrm>
            <a:off x="2523335" y="4596371"/>
            <a:ext cx="1818754" cy="36933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댓글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 달린 글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10356497" y="3754784"/>
            <a:ext cx="1438595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수정</a:t>
            </a:r>
            <a:endParaRPr lang="ko-KR" altLang="en-US" dirty="0"/>
          </a:p>
        </p:txBody>
      </p:sp>
      <p:sp>
        <p:nvSpPr>
          <p:cNvPr id="58" name="모서리가 둥근 직사각형 57"/>
          <p:cNvSpPr/>
          <p:nvPr/>
        </p:nvSpPr>
        <p:spPr>
          <a:xfrm>
            <a:off x="10356497" y="4213011"/>
            <a:ext cx="1438595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로그아웃</a:t>
            </a:r>
            <a:endParaRPr lang="ko-KR" altLang="en-US" dirty="0"/>
          </a:p>
        </p:txBody>
      </p:sp>
      <p:sp>
        <p:nvSpPr>
          <p:cNvPr id="59" name="모서리가 둥근 직사각형 58"/>
          <p:cNvSpPr/>
          <p:nvPr/>
        </p:nvSpPr>
        <p:spPr>
          <a:xfrm>
            <a:off x="8907021" y="5175759"/>
            <a:ext cx="1740880" cy="36933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개인정보 입력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8907020" y="5688386"/>
            <a:ext cx="1740881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HY강B" pitchFamily="18" charset="-127"/>
                <a:ea typeface="HY강B" pitchFamily="18" charset="-127"/>
              </a:rPr>
              <a:t>게시글</a:t>
            </a:r>
            <a:r>
              <a:rPr lang="ko-KR" altLang="en-US" dirty="0">
                <a:latin typeface="HY강B" pitchFamily="18" charset="-127"/>
                <a:ea typeface="HY강B" pitchFamily="18" charset="-127"/>
              </a:rPr>
              <a:t> </a:t>
            </a:r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관리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8907019" y="6147657"/>
            <a:ext cx="1740882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유저 관리</a:t>
            </a:r>
            <a:endParaRPr lang="ko-KR" altLang="en-US" dirty="0"/>
          </a:p>
        </p:txBody>
      </p:sp>
      <p:sp>
        <p:nvSpPr>
          <p:cNvPr id="62" name="모서리가 둥근 직사각형 61"/>
          <p:cNvSpPr/>
          <p:nvPr/>
        </p:nvSpPr>
        <p:spPr>
          <a:xfrm>
            <a:off x="10356497" y="4659980"/>
            <a:ext cx="1438595" cy="36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HY강B" pitchFamily="18" charset="-127"/>
                <a:ea typeface="HY강B" pitchFamily="18" charset="-127"/>
              </a:rPr>
              <a:t>탈퇴</a:t>
            </a:r>
            <a:endParaRPr lang="ko-KR" altLang="en-US" dirty="0">
              <a:latin typeface="HY강B" pitchFamily="18" charset="-127"/>
              <a:ea typeface="HY강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102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4A2CAC20-4202-41E0-9D3B-D51137F9172C}"/>
              </a:ext>
            </a:extLst>
          </p:cNvPr>
          <p:cNvSpPr/>
          <p:nvPr/>
        </p:nvSpPr>
        <p:spPr>
          <a:xfrm>
            <a:off x="378460" y="1246053"/>
            <a:ext cx="11518167" cy="5408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4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10615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ERD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pic>
        <p:nvPicPr>
          <p:cNvPr id="1026" name="Picture 2" descr="C:\Users\HP\Desktop\finalProject(P-Nut) Exerd 캡처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24" y="1052945"/>
            <a:ext cx="9310569" cy="5805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07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4A2CAC20-4202-41E0-9D3B-D51137F9172C}"/>
              </a:ext>
            </a:extLst>
          </p:cNvPr>
          <p:cNvSpPr/>
          <p:nvPr/>
        </p:nvSpPr>
        <p:spPr>
          <a:xfrm>
            <a:off x="249382" y="1246053"/>
            <a:ext cx="11647245" cy="5408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5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36872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테이블 명세서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68359"/>
              </p:ext>
            </p:extLst>
          </p:nvPr>
        </p:nvGraphicFramePr>
        <p:xfrm>
          <a:off x="332604" y="1810123"/>
          <a:ext cx="5740400" cy="4280607"/>
        </p:xfrm>
        <a:graphic>
          <a:graphicData uri="http://schemas.openxmlformats.org/drawingml/2006/table">
            <a:tbl>
              <a:tblPr/>
              <a:tblGrid>
                <a:gridCol w="316974"/>
                <a:gridCol w="1093560"/>
                <a:gridCol w="1153786"/>
                <a:gridCol w="1055524"/>
                <a:gridCol w="751228"/>
                <a:gridCol w="684664"/>
                <a:gridCol w="684664"/>
              </a:tblGrid>
              <a:tr h="287772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엔티티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타입명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회원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21.02.25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5781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테이블명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pn_member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조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515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컬럼명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속성명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데이터 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NULL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기본값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KEY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8777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m_id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회원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ID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8777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m_pw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회원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PW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777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m_name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이름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777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m_nickname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별명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777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m_email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이메일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varchar2(40)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777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m_tel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전화번호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777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m_intro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자기소개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varchar2(600)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777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m_regdate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가입일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date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777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m_del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탈퇴여부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char(1)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777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10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m_profile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사진파일명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777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m_bg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배경파일명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927447"/>
              </p:ext>
            </p:extLst>
          </p:nvPr>
        </p:nvGraphicFramePr>
        <p:xfrm>
          <a:off x="6206467" y="2607402"/>
          <a:ext cx="5740400" cy="1592808"/>
        </p:xfrm>
        <a:graphic>
          <a:graphicData uri="http://schemas.openxmlformats.org/drawingml/2006/table">
            <a:tbl>
              <a:tblPr/>
              <a:tblGrid>
                <a:gridCol w="316974"/>
                <a:gridCol w="1093560"/>
                <a:gridCol w="1153786"/>
                <a:gridCol w="1055524"/>
                <a:gridCol w="751228"/>
                <a:gridCol w="684664"/>
                <a:gridCol w="684664"/>
              </a:tblGrid>
              <a:tr h="271116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엔티티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타입명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관리자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21.02.25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982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테이블명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pn_master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조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19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컬럼명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속성명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데이터 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NULL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기본값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KEY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111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mas_id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관리자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ID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111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mas_pw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관리자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PW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37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4A2CAC20-4202-41E0-9D3B-D51137F9172C}"/>
              </a:ext>
            </a:extLst>
          </p:cNvPr>
          <p:cNvSpPr/>
          <p:nvPr/>
        </p:nvSpPr>
        <p:spPr>
          <a:xfrm>
            <a:off x="249382" y="1246053"/>
            <a:ext cx="11828737" cy="5408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5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36872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테이블 명세서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435990"/>
              </p:ext>
            </p:extLst>
          </p:nvPr>
        </p:nvGraphicFramePr>
        <p:xfrm>
          <a:off x="358775" y="2051291"/>
          <a:ext cx="5740400" cy="3798271"/>
        </p:xfrm>
        <a:graphic>
          <a:graphicData uri="http://schemas.openxmlformats.org/drawingml/2006/table">
            <a:tbl>
              <a:tblPr/>
              <a:tblGrid>
                <a:gridCol w="316974"/>
                <a:gridCol w="1093560"/>
                <a:gridCol w="1153786"/>
                <a:gridCol w="1055524"/>
                <a:gridCol w="751228"/>
                <a:gridCol w="684664"/>
                <a:gridCol w="684664"/>
              </a:tblGrid>
              <a:tr h="255346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엔티티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타입명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게시글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21.02.25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4706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테이블명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pn_peanuts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조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894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컬럼명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속성명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데이터 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NULL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기본값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KEY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534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peanut_no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게시글 번호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number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5534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writer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34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content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내용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varchar2(600)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34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ip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IP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varchar2(40)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34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renut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리넛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number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34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picture1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사진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34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picture2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사진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34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picture3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사진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34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picture4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사진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34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10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regdate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date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34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del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삭제여부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char(1)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8082"/>
              </p:ext>
            </p:extLst>
          </p:nvPr>
        </p:nvGraphicFramePr>
        <p:xfrm>
          <a:off x="6163750" y="2047360"/>
          <a:ext cx="5740400" cy="3740495"/>
        </p:xfrm>
        <a:graphic>
          <a:graphicData uri="http://schemas.openxmlformats.org/drawingml/2006/table">
            <a:tbl>
              <a:tblPr/>
              <a:tblGrid>
                <a:gridCol w="316974"/>
                <a:gridCol w="1093560"/>
                <a:gridCol w="1153786"/>
                <a:gridCol w="1055524"/>
                <a:gridCol w="751228"/>
                <a:gridCol w="684664"/>
                <a:gridCol w="684664"/>
              </a:tblGrid>
              <a:tr h="290524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엔티티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타입명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댓글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21.02.25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8418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테이블명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pn_replies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조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568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컬럼명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속성명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데이터 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NULL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기본값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KEY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052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reply_no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댓글 번호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number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9052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peanut_no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게시글 번호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number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52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writer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52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content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댓글 내용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varchar2(600)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52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regdate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date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52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ip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IP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varchar2(40)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52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ref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참조번호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number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52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ref_level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참조레벨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number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52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del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삭제여부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char(1)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29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4A2CAC20-4202-41E0-9D3B-D51137F9172C}"/>
              </a:ext>
            </a:extLst>
          </p:cNvPr>
          <p:cNvSpPr/>
          <p:nvPr/>
        </p:nvSpPr>
        <p:spPr>
          <a:xfrm>
            <a:off x="249382" y="1246053"/>
            <a:ext cx="11828737" cy="5408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5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36872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테이블 명세서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418377"/>
              </p:ext>
            </p:extLst>
          </p:nvPr>
        </p:nvGraphicFramePr>
        <p:xfrm>
          <a:off x="308124" y="1400497"/>
          <a:ext cx="5740400" cy="1343025"/>
        </p:xfrm>
        <a:graphic>
          <a:graphicData uri="http://schemas.openxmlformats.org/drawingml/2006/table">
            <a:tbl>
              <a:tblPr/>
              <a:tblGrid>
                <a:gridCol w="316974"/>
                <a:gridCol w="1093560"/>
                <a:gridCol w="1153786"/>
                <a:gridCol w="1055524"/>
                <a:gridCol w="751228"/>
                <a:gridCol w="684664"/>
                <a:gridCol w="684664"/>
              </a:tblGrid>
              <a:tr h="22860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엔티티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타입명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팔로우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21.02.25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907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테이블명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pn_follow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컬럼명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속성명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데이터 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NULL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기본값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KEY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active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팔로우한 사람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PK, 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passive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팔로우당한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 사람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PK, 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690080"/>
              </p:ext>
            </p:extLst>
          </p:nvPr>
        </p:nvGraphicFramePr>
        <p:xfrm>
          <a:off x="308124" y="2968040"/>
          <a:ext cx="5740400" cy="1343025"/>
        </p:xfrm>
        <a:graphic>
          <a:graphicData uri="http://schemas.openxmlformats.org/drawingml/2006/table">
            <a:tbl>
              <a:tblPr/>
              <a:tblGrid>
                <a:gridCol w="316974"/>
                <a:gridCol w="1093560"/>
                <a:gridCol w="1153786"/>
                <a:gridCol w="1055524"/>
                <a:gridCol w="751228"/>
                <a:gridCol w="684664"/>
                <a:gridCol w="684664"/>
              </a:tblGrid>
              <a:tr h="22860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엔티티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타입명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차단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21.02.25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9075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테이블명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pn_block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조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컬럼명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속성명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데이터 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NULL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기본값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KEY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active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차단한 사람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PK, 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passive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차단당한 사람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PK, 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310388"/>
              </p:ext>
            </p:extLst>
          </p:nvPr>
        </p:nvGraphicFramePr>
        <p:xfrm>
          <a:off x="308124" y="4525535"/>
          <a:ext cx="5740400" cy="1343025"/>
        </p:xfrm>
        <a:graphic>
          <a:graphicData uri="http://schemas.openxmlformats.org/drawingml/2006/table">
            <a:tbl>
              <a:tblPr/>
              <a:tblGrid>
                <a:gridCol w="316974"/>
                <a:gridCol w="1093560"/>
                <a:gridCol w="1153786"/>
                <a:gridCol w="1055524"/>
                <a:gridCol w="751228"/>
                <a:gridCol w="684664"/>
                <a:gridCol w="684664"/>
              </a:tblGrid>
              <a:tr h="22860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엔티티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타입명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북마크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21.02.25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9075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테이블명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pn_bookmark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조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컬럼명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속성명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데이터 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NULL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기본값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KEY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peanut_no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게시글 번호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number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PK, 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bm_user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북마크 유저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PK, 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91784"/>
              </p:ext>
            </p:extLst>
          </p:nvPr>
        </p:nvGraphicFramePr>
        <p:xfrm>
          <a:off x="6156227" y="1396730"/>
          <a:ext cx="5740400" cy="1571625"/>
        </p:xfrm>
        <a:graphic>
          <a:graphicData uri="http://schemas.openxmlformats.org/drawingml/2006/table">
            <a:tbl>
              <a:tblPr/>
              <a:tblGrid>
                <a:gridCol w="316974"/>
                <a:gridCol w="1093560"/>
                <a:gridCol w="1153786"/>
                <a:gridCol w="1055524"/>
                <a:gridCol w="751228"/>
                <a:gridCol w="684664"/>
                <a:gridCol w="684664"/>
              </a:tblGrid>
              <a:tr h="22860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엔티티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타입명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알림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21.02.25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9075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테이블명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pn_notice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조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컬럼명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속성명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데이터 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NULL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기본값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KEY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peanut_no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게시글 번호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number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PK, 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reply_no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댓글 번호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number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PK, 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notice_user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알림대상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'n'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PK, 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427574"/>
              </p:ext>
            </p:extLst>
          </p:nvPr>
        </p:nvGraphicFramePr>
        <p:xfrm>
          <a:off x="6163750" y="3166495"/>
          <a:ext cx="5740400" cy="2714625"/>
        </p:xfrm>
        <a:graphic>
          <a:graphicData uri="http://schemas.openxmlformats.org/drawingml/2006/table">
            <a:tbl>
              <a:tblPr/>
              <a:tblGrid>
                <a:gridCol w="316974"/>
                <a:gridCol w="1093560"/>
                <a:gridCol w="1153786"/>
                <a:gridCol w="1055524"/>
                <a:gridCol w="751228"/>
                <a:gridCol w="684664"/>
                <a:gridCol w="684664"/>
              </a:tblGrid>
              <a:tr h="22860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엔티티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타입명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쪽지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21.02.25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9075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테이블명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pn_message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작성자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조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컬럼명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속성명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데이터 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NULL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여부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기본값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KEY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message_no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쪽지 번호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number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PK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sender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보내는 사람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receiver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받는 사람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varchar2(20)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FK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content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내용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varchar2(600)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ip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IP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varchar2(40)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reg_date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작성일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date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checked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확인여부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char(1)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del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삭제여부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char(1)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Not Null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Y강B" pitchFamily="18" charset="-127"/>
                          <a:ea typeface="HY강B" pitchFamily="18" charset="-127"/>
                        </a:rPr>
                        <a:t>　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23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6C6DB638-B863-450E-98E5-709688E59C32}"/>
              </a:ext>
            </a:extLst>
          </p:cNvPr>
          <p:cNvCxnSpPr>
            <a:cxnSpLocks/>
          </p:cNvCxnSpPr>
          <p:nvPr/>
        </p:nvCxnSpPr>
        <p:spPr>
          <a:xfrm>
            <a:off x="249382" y="203199"/>
            <a:ext cx="0" cy="84974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8EED04E-4473-46D1-9C66-8A570413053B}"/>
              </a:ext>
            </a:extLst>
          </p:cNvPr>
          <p:cNvSpPr txBox="1"/>
          <p:nvPr/>
        </p:nvSpPr>
        <p:spPr>
          <a:xfrm>
            <a:off x="378460" y="258740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</a:rPr>
              <a:t>PART </a:t>
            </a:r>
            <a:r>
              <a:rPr lang="en-US" altLang="ko-KR" b="1" dirty="0" smtClean="0">
                <a:solidFill>
                  <a:schemeClr val="accent4">
                    <a:lumMod val="75000"/>
                  </a:schemeClr>
                </a:solidFill>
              </a:rPr>
              <a:t>6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E6A5009-760C-4C19-A3E3-6BBCCCE99358}"/>
              </a:ext>
            </a:extLst>
          </p:cNvPr>
          <p:cNvSpPr txBox="1"/>
          <p:nvPr/>
        </p:nvSpPr>
        <p:spPr>
          <a:xfrm>
            <a:off x="1495821" y="203199"/>
            <a:ext cx="23968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smtClean="0">
                <a:solidFill>
                  <a:schemeClr val="accent4">
                    <a:lumMod val="75000"/>
                  </a:schemeClr>
                </a:solidFill>
                <a:latin typeface="HY강B" pitchFamily="18" charset="-127"/>
                <a:ea typeface="HY강B" pitchFamily="18" charset="-127"/>
              </a:rPr>
              <a:t>진행상황</a:t>
            </a:r>
            <a:endParaRPr lang="ko-KR" altLang="en-US" sz="4400" b="1" dirty="0">
              <a:solidFill>
                <a:schemeClr val="accent4">
                  <a:lumMod val="75000"/>
                </a:schemeClr>
              </a:solidFill>
              <a:latin typeface="HY강B" pitchFamily="18" charset="-127"/>
              <a:ea typeface="HY강B" pitchFamily="18" charset="-127"/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388712"/>
              </p:ext>
            </p:extLst>
          </p:nvPr>
        </p:nvGraphicFramePr>
        <p:xfrm>
          <a:off x="249382" y="1615653"/>
          <a:ext cx="11637838" cy="4079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28693"/>
                <a:gridCol w="1508705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  <a:gridCol w="435022"/>
              </a:tblGrid>
              <a:tr h="370840">
                <a:tc rowSpan="2" gridSpan="2"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  <a:r>
                        <a:rPr lang="ko-KR" altLang="en-US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주차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r>
                        <a:rPr lang="ko-KR" altLang="en-US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주차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  <a:r>
                        <a:rPr lang="ko-KR" altLang="en-US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주차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  <a:r>
                        <a:rPr lang="ko-KR" altLang="en-US" sz="15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HY강B" pitchFamily="18" charset="-127"/>
                          <a:ea typeface="HY강B" pitchFamily="18" charset="-127"/>
                        </a:rPr>
                        <a:t>주차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</a:tr>
              <a:tr h="37084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1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2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3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4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5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요구사항 분석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ECA3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프로젝트개요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메뉴설계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ERD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기획 및 설계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ECA3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테이블 설계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화면구성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구현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ECA3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코딩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C6A97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화면 디자인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테스트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ECA3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테스트</a:t>
                      </a:r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/</a:t>
                      </a:r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수정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최종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rgbClr val="ECA3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최종발표</a:t>
                      </a:r>
                      <a:r>
                        <a:rPr lang="en-US" altLang="ko-KR" sz="1500" dirty="0" smtClean="0">
                          <a:latin typeface="HY강B" pitchFamily="18" charset="-127"/>
                          <a:ea typeface="HY강B" pitchFamily="18" charset="-127"/>
                        </a:rPr>
                        <a:t>/</a:t>
                      </a:r>
                      <a:r>
                        <a:rPr lang="ko-KR" altLang="en-US" sz="1500" dirty="0" smtClean="0">
                          <a:latin typeface="HY강B" pitchFamily="18" charset="-127"/>
                          <a:ea typeface="HY강B" pitchFamily="18" charset="-127"/>
                        </a:rPr>
                        <a:t>시연</a:t>
                      </a:r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HY강B" pitchFamily="18" charset="-127"/>
                        <a:ea typeface="HY강B" pitchFamily="18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78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E879D038-0D20-4E4C-9512-E80D62B31392}"/>
              </a:ext>
            </a:extLst>
          </p:cNvPr>
          <p:cNvSpPr/>
          <p:nvPr/>
        </p:nvSpPr>
        <p:spPr>
          <a:xfrm>
            <a:off x="487050" y="459556"/>
            <a:ext cx="11217897" cy="59388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161B78E-D4DE-46BD-90F5-09BF3EC5BF15}"/>
              </a:ext>
            </a:extLst>
          </p:cNvPr>
          <p:cNvSpPr txBox="1"/>
          <p:nvPr/>
        </p:nvSpPr>
        <p:spPr>
          <a:xfrm>
            <a:off x="3768279" y="2921168"/>
            <a:ext cx="46554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</a:rPr>
              <a:t>감사합니다 </a:t>
            </a:r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sym typeface="Wingdings" panose="05000000000000000000" pitchFamily="2" charset="2"/>
              </a:rPr>
              <a:t></a:t>
            </a:r>
            <a:endParaRPr lang="ko-KR" altLang="en-US" sz="6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대각선 줄무늬 7">
            <a:extLst>
              <a:ext uri="{FF2B5EF4-FFF2-40B4-BE49-F238E27FC236}">
                <a16:creationId xmlns:a16="http://schemas.microsoft.com/office/drawing/2014/main" xmlns="" id="{5F8112C1-514E-4093-913A-C021DE95F80B}"/>
              </a:ext>
            </a:extLst>
          </p:cNvPr>
          <p:cNvSpPr/>
          <p:nvPr/>
        </p:nvSpPr>
        <p:spPr>
          <a:xfrm>
            <a:off x="0" y="0"/>
            <a:ext cx="2809188" cy="2809188"/>
          </a:xfrm>
          <a:prstGeom prst="diagStripe">
            <a:avLst>
              <a:gd name="adj" fmla="val 71141"/>
            </a:avLst>
          </a:prstGeom>
          <a:solidFill>
            <a:srgbClr val="C6A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대각선 줄무늬 8">
            <a:extLst>
              <a:ext uri="{FF2B5EF4-FFF2-40B4-BE49-F238E27FC236}">
                <a16:creationId xmlns:a16="http://schemas.microsoft.com/office/drawing/2014/main" xmlns="" id="{4AC7A1D0-7CC6-4878-89EE-3F659223762C}"/>
              </a:ext>
            </a:extLst>
          </p:cNvPr>
          <p:cNvSpPr/>
          <p:nvPr/>
        </p:nvSpPr>
        <p:spPr>
          <a:xfrm rot="10800000">
            <a:off x="9382812" y="4048811"/>
            <a:ext cx="2809188" cy="2809188"/>
          </a:xfrm>
          <a:prstGeom prst="diagStripe">
            <a:avLst>
              <a:gd name="adj" fmla="val 71141"/>
            </a:avLst>
          </a:prstGeom>
          <a:solidFill>
            <a:srgbClr val="C6A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94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170551111">
      <a:dk1>
        <a:sysClr val="windowText" lastClr="000000"/>
      </a:dk1>
      <a:lt1>
        <a:sysClr val="window" lastClr="FFFFFF"/>
      </a:lt1>
      <a:dk2>
        <a:srgbClr val="595959"/>
      </a:dk2>
      <a:lt2>
        <a:srgbClr val="EEECE1"/>
      </a:lt2>
      <a:accent1>
        <a:srgbClr val="5397A2"/>
      </a:accent1>
      <a:accent2>
        <a:srgbClr val="014E6A"/>
      </a:accent2>
      <a:accent3>
        <a:srgbClr val="EDA762"/>
      </a:accent3>
      <a:accent4>
        <a:srgbClr val="8D7F76"/>
      </a:accent4>
      <a:accent5>
        <a:srgbClr val="ADADAD"/>
      </a:accent5>
      <a:accent6>
        <a:srgbClr val="E1D5CE"/>
      </a:accent6>
      <a:hlink>
        <a:srgbClr val="262626"/>
      </a:hlink>
      <a:folHlink>
        <a:srgbClr val="262626"/>
      </a:folHlink>
    </a:clrScheme>
    <a:fontScheme name="사용자 지정 1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1200</TotalTime>
  <Words>742</Words>
  <Application>Microsoft Office PowerPoint</Application>
  <PresentationFormat>사용자 지정</PresentationFormat>
  <Paragraphs>598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굴림</vt:lpstr>
      <vt:lpstr>Arial</vt:lpstr>
      <vt:lpstr>Wingdings</vt:lpstr>
      <vt:lpstr>나눔스퀘어라운드 Regular</vt:lpstr>
      <vt:lpstr>HY강B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HP</cp:lastModifiedBy>
  <cp:revision>147</cp:revision>
  <dcterms:created xsi:type="dcterms:W3CDTF">2015-01-21T11:35:38Z</dcterms:created>
  <dcterms:modified xsi:type="dcterms:W3CDTF">2021-02-26T01:37:32Z</dcterms:modified>
</cp:coreProperties>
</file>